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c395cd6-76fc-ad8a-c7c0-491c1134b977}">
          <p14:sldIdLst>
            <p14:sldId id="256"/>
            <p14:sldId id="257"/>
          </p14:sldIdLst>
        </p14:section>
        <p14:section name="Design" id="{fb6637d9-52f8-454c-d0fb-2f85c29a4b16}">
          <p14:sldIdLst>
            <p14:sldId id="258"/>
            <p14:sldId id="259"/>
            <p14:sldId id="260"/>
          </p14:sldIdLst>
        </p14:section>
        <p14:section name="Implementation" id="{3d1d8a6c-6ce9-c3b1-c49b-ab354877aa6b}">
          <p14:sldIdLst>
            <p14:sldId id="261"/>
            <p14:sldId id="262"/>
            <p14:sldId id="263"/>
          </p14:sldIdLst>
        </p14:section>
        <p14:section name="Evaluation" id="{6d958c8c-3044-7187-85e2-984745d9a8cf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188720"/>
            <a:ext cx="54864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Maham Aziz  |  SU92-BSCSM-F23-238  |  Deep Learning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1887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Image Classification Web App using ResNet50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Deep Learning  |  Flask + TensorFlow/Keras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Maham Aziz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Roll No: SU92-BSCSM-F23-238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flipV="1">
            <a:off x="6583680" y="1051560"/>
            <a:ext cx="914400" cy="502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554480"/>
            <a:ext cx="914400" cy="502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554480"/>
            <a:ext cx="914400" cy="15087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554480"/>
            <a:ext cx="914400" cy="25146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583680" y="1051560"/>
            <a:ext cx="914400" cy="15087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583680" y="2057400"/>
            <a:ext cx="914400" cy="502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560320"/>
            <a:ext cx="914400" cy="502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560320"/>
            <a:ext cx="914400" cy="15087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583680" y="1051560"/>
            <a:ext cx="914400" cy="25146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6583680" y="2057400"/>
            <a:ext cx="914400" cy="15087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6583680" y="3063240"/>
            <a:ext cx="914400" cy="502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566160"/>
            <a:ext cx="914400" cy="502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051560"/>
            <a:ext cx="914400" cy="502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1051560"/>
            <a:ext cx="914400" cy="15087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1051560"/>
            <a:ext cx="914400" cy="25146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7498080" y="1554480"/>
            <a:ext cx="914400" cy="502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2057400"/>
            <a:ext cx="914400" cy="502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2057400"/>
            <a:ext cx="914400" cy="15087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7498080" y="1554480"/>
            <a:ext cx="914400" cy="15087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7498080" y="2560320"/>
            <a:ext cx="914400" cy="502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3063240"/>
            <a:ext cx="914400" cy="502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7498080" y="1554480"/>
            <a:ext cx="914400" cy="25146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7498080" y="2560320"/>
            <a:ext cx="914400" cy="15087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7498080" y="3566160"/>
            <a:ext cx="914400" cy="502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9" name="Node 1"/>
          <p:cNvSpPr/>
          <p:nvPr/>
        </p:nvSpPr>
        <p:spPr>
          <a:xfrm>
            <a:off x="6419088" y="13898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Node 2"/>
          <p:cNvSpPr/>
          <p:nvPr/>
        </p:nvSpPr>
        <p:spPr>
          <a:xfrm>
            <a:off x="6419088" y="23957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Node 3"/>
          <p:cNvSpPr/>
          <p:nvPr/>
        </p:nvSpPr>
        <p:spPr>
          <a:xfrm>
            <a:off x="6419088" y="34015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Node 4"/>
          <p:cNvSpPr/>
          <p:nvPr/>
        </p:nvSpPr>
        <p:spPr>
          <a:xfrm>
            <a:off x="7333488" y="8869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Node 5"/>
          <p:cNvSpPr/>
          <p:nvPr/>
        </p:nvSpPr>
        <p:spPr>
          <a:xfrm>
            <a:off x="7333488" y="18928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Node 6"/>
          <p:cNvSpPr/>
          <p:nvPr/>
        </p:nvSpPr>
        <p:spPr>
          <a:xfrm>
            <a:off x="7333488" y="28986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Node 7"/>
          <p:cNvSpPr/>
          <p:nvPr/>
        </p:nvSpPr>
        <p:spPr>
          <a:xfrm>
            <a:off x="7333488" y="39044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Node 8"/>
          <p:cNvSpPr/>
          <p:nvPr/>
        </p:nvSpPr>
        <p:spPr>
          <a:xfrm>
            <a:off x="8247888" y="13898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7" name="Node 9"/>
          <p:cNvSpPr/>
          <p:nvPr/>
        </p:nvSpPr>
        <p:spPr>
          <a:xfrm>
            <a:off x="8247888" y="23957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Node 10"/>
          <p:cNvSpPr/>
          <p:nvPr/>
        </p:nvSpPr>
        <p:spPr>
          <a:xfrm>
            <a:off x="8247888" y="34015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Overview</a:t>
            </a:r>
            <a:endParaRPr lang="en-US" sz="3400" dirty="0"/>
          </a:p>
        </p:txBody>
      </p:sp>
      <p:sp>
        <p:nvSpPr>
          <p:cNvPr id="3" name="Card Problem"/>
          <p:cNvSpPr/>
          <p:nvPr/>
        </p:nvSpPr>
        <p:spPr>
          <a:xfrm>
            <a:off x="457200" y="132588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 txBox="1"/>
          <p:nvPr/>
        </p:nvSpPr>
        <p:spPr>
          <a:xfrm>
            <a:off x="685800" y="15316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3560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Problem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Identifying what an image contains by hand is slow; deep learning can do it automatically.</a:t>
            </a:r>
            <a:endParaRPr lang="en-US" sz="1800" dirty="0"/>
          </a:p>
        </p:txBody>
      </p:sp>
      <p:sp>
        <p:nvSpPr>
          <p:cNvPr id="6" name="Card Solution"/>
          <p:cNvSpPr/>
          <p:nvPr/>
        </p:nvSpPr>
        <p:spPr>
          <a:xfrm>
            <a:off x="457200" y="233172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7" name="Number 2"/>
          <p:cNvSpPr txBox="1"/>
          <p:nvPr/>
        </p:nvSpPr>
        <p:spPr>
          <a:xfrm>
            <a:off x="685800" y="25374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44144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Solution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Flask web app: upload an image and instantly get the predicted class with a confidence score.</a:t>
            </a:r>
            <a:endParaRPr lang="en-US" sz="1800" dirty="0"/>
          </a:p>
        </p:txBody>
      </p:sp>
      <p:sp>
        <p:nvSpPr>
          <p:cNvPr id="9" name="Card Approach"/>
          <p:cNvSpPr/>
          <p:nvPr/>
        </p:nvSpPr>
        <p:spPr>
          <a:xfrm>
            <a:off x="457200" y="333756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0" name="Number 3"/>
          <p:cNvSpPr txBox="1"/>
          <p:nvPr/>
        </p:nvSpPr>
        <p:spPr>
          <a:xfrm>
            <a:off x="685800" y="35433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44728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Approach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Transfer learning: a pre-trained ResNet50 (ImageNet weights) is used directly, with no retraining.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Technology Stack</a:t>
            </a:r>
            <a:endParaRPr lang="en-US" sz="3400" dirty="0"/>
          </a:p>
        </p:txBody>
      </p:sp>
      <p:sp>
        <p:nvSpPr>
          <p:cNvPr id="3" name="Card Python 3"/>
          <p:cNvSpPr/>
          <p:nvPr/>
        </p:nvSpPr>
        <p:spPr>
          <a:xfrm>
            <a:off x="457200" y="137160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Python 3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Core programming language</a:t>
            </a:r>
            <a:endParaRPr lang="en-US" sz="1800" dirty="0"/>
          </a:p>
        </p:txBody>
      </p:sp>
      <p:sp>
        <p:nvSpPr>
          <p:cNvPr id="5" name="Card Flask"/>
          <p:cNvSpPr/>
          <p:nvPr/>
        </p:nvSpPr>
        <p:spPr>
          <a:xfrm>
            <a:off x="3291840" y="137160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4720" y="1554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Flask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Routing, requests and HTML templates</a:t>
            </a:r>
            <a:endParaRPr lang="en-US" sz="1800" dirty="0"/>
          </a:p>
        </p:txBody>
      </p:sp>
      <p:sp>
        <p:nvSpPr>
          <p:cNvPr id="7" name="Card TensorFlow / Keras"/>
          <p:cNvSpPr/>
          <p:nvPr/>
        </p:nvSpPr>
        <p:spPr>
          <a:xfrm>
            <a:off x="6126480" y="137160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554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TensorFlow / Keras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Deep learning framework and image utilities</a:t>
            </a:r>
            <a:endParaRPr lang="en-US" sz="1800" dirty="0"/>
          </a:p>
        </p:txBody>
      </p:sp>
      <p:sp>
        <p:nvSpPr>
          <p:cNvPr id="9" name="Card ResNet50"/>
          <p:cNvSpPr/>
          <p:nvPr/>
        </p:nvSpPr>
        <p:spPr>
          <a:xfrm>
            <a:off x="45720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1089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ResNet50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Pre-trained CNN with ImageNet weights</a:t>
            </a:r>
            <a:endParaRPr lang="en-US" sz="1800" dirty="0"/>
          </a:p>
        </p:txBody>
      </p:sp>
      <p:sp>
        <p:nvSpPr>
          <p:cNvPr id="11" name="Card Werkzeug"/>
          <p:cNvSpPr/>
          <p:nvPr/>
        </p:nvSpPr>
        <p:spPr>
          <a:xfrm>
            <a:off x="329184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31089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Werkzeug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secure_filename() for safe uploads</a:t>
            </a:r>
            <a:endParaRPr lang="en-US" sz="1800" dirty="0"/>
          </a:p>
        </p:txBody>
      </p:sp>
      <p:sp>
        <p:nvSpPr>
          <p:cNvPr id="13" name="Card HTML (Jinja2)"/>
          <p:cNvSpPr/>
          <p:nvPr/>
        </p:nvSpPr>
        <p:spPr>
          <a:xfrm>
            <a:off x="612648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31089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HTML (Jinja2)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index.html upload form and result page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It Works</a:t>
            </a:r>
            <a:endParaRPr lang="en-US" sz="3400" dirty="0"/>
          </a:p>
        </p:txBody>
      </p:sp>
      <p:sp>
        <p:nvSpPr>
          <p:cNvPr id="3" name="Step Upload"/>
          <p:cNvSpPr/>
          <p:nvPr/>
        </p:nvSpPr>
        <p:spPr>
          <a:xfrm>
            <a:off x="457200" y="1371600"/>
            <a:ext cx="1463040" cy="22860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 txBox="1"/>
          <p:nvPr/>
        </p:nvSpPr>
        <p:spPr>
          <a:xfrm>
            <a:off x="96012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Upload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60320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 picks an image in the web form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47672" y="2395728"/>
            <a:ext cx="128016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tep Save"/>
          <p:cNvSpPr/>
          <p:nvPr/>
        </p:nvSpPr>
        <p:spPr>
          <a:xfrm>
            <a:off x="2103120" y="1371600"/>
            <a:ext cx="1463040" cy="22860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26060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Save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12848" y="2560320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Name sanitised, file stored in /images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93592" y="2395728"/>
            <a:ext cx="128016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Step Preprocess"/>
          <p:cNvSpPr/>
          <p:nvPr/>
        </p:nvSpPr>
        <p:spPr>
          <a:xfrm>
            <a:off x="3749040" y="1371600"/>
            <a:ext cx="1463040" cy="22860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425196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Preprocess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58768" y="2560320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Resize 224×224, add batch dimension, normalise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39512" y="2395728"/>
            <a:ext cx="128016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Step Predict"/>
          <p:cNvSpPr/>
          <p:nvPr/>
        </p:nvSpPr>
        <p:spPr>
          <a:xfrm>
            <a:off x="5394960" y="1371600"/>
            <a:ext cx="1463040" cy="22860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9" name="Number 4"/>
          <p:cNvSpPr txBox="1"/>
          <p:nvPr/>
        </p:nvSpPr>
        <p:spPr>
          <a:xfrm>
            <a:off x="589788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Predict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04688" y="2560320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ResNet50 scores 1000 ImageNet classes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85432" y="2395728"/>
            <a:ext cx="128016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Step Display"/>
          <p:cNvSpPr/>
          <p:nvPr/>
        </p:nvSpPr>
        <p:spPr>
          <a:xfrm>
            <a:off x="7040880" y="1371600"/>
            <a:ext cx="1463040" cy="22860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4" name="Number 5"/>
          <p:cNvSpPr txBox="1"/>
          <p:nvPr/>
        </p:nvSpPr>
        <p:spPr>
          <a:xfrm>
            <a:off x="754380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Display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50608" y="2560320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Top-1 label with confidence shown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Every step runs inside a single Flask route: predict()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ResNet50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50-layer convolutional neural network (CNN)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Residual (skip) connections ease the vanishing-gradient problem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Pre-trained on ImageNet: over 1 million images, 1000 classes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Expects 224×224 RGB input</a:t>
            </a:r>
            <a:endParaRPr lang="en-US" sz="1600" dirty="0"/>
          </a:p>
        </p:txBody>
      </p:sp>
      <p:sp>
        <p:nvSpPr>
          <p:cNvPr id="4" name="Stat layers deep"/>
          <p:cNvSpPr/>
          <p:nvPr/>
        </p:nvSpPr>
        <p:spPr>
          <a:xfrm>
            <a:off x="5760720" y="1371600"/>
            <a:ext cx="29260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897880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146304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layers deep</a:t>
            </a:r>
            <a:endParaRPr lang="en-US" sz="1400" dirty="0"/>
          </a:p>
        </p:txBody>
      </p:sp>
      <p:sp>
        <p:nvSpPr>
          <p:cNvPr id="7" name="Stat ImageNet classes"/>
          <p:cNvSpPr/>
          <p:nvPr/>
        </p:nvSpPr>
        <p:spPr>
          <a:xfrm>
            <a:off x="5760720" y="2468880"/>
            <a:ext cx="29260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97880" y="2560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25603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ImageNet classes</a:t>
            </a:r>
            <a:endParaRPr lang="en-US" sz="1400" dirty="0"/>
          </a:p>
        </p:txBody>
      </p:sp>
      <p:sp>
        <p:nvSpPr>
          <p:cNvPr id="10" name="Stat input size (pixels)"/>
          <p:cNvSpPr/>
          <p:nvPr/>
        </p:nvSpPr>
        <p:spPr>
          <a:xfrm>
            <a:off x="5760720" y="3566160"/>
            <a:ext cx="29260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97880" y="36576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224×224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365760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input size (pixels)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Flask Application Structure</a:t>
            </a:r>
            <a:endParaRPr lang="en-US" sz="3400" dirty="0"/>
          </a:p>
        </p:txBody>
      </p:sp>
      <p:sp>
        <p:nvSpPr>
          <p:cNvPr id="3" name="Code block"/>
          <p:cNvSpPr/>
          <p:nvPr/>
        </p:nvSpPr>
        <p:spPr>
          <a:xfrm>
            <a:off x="457200" y="1280160"/>
            <a:ext cx="493776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ResNet50(weights='imagenet')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@app.route('/', methods=['GET'])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hello_world():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render_template('index.html')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@app.route('/', methods=['POST'])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imagefile = request.files['imagefile']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filename = secure_filename(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imagefile.filename)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imagefile.save(image_path)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13716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is loaded once at startup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GET / renders the upload page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 / handles upload and prediction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Port is read from the environment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Image Preprocessing Pipeline</a:t>
            </a:r>
            <a:endParaRPr lang="en-US" sz="3400" dirty="0"/>
          </a:p>
        </p:txBody>
      </p:sp>
      <p:sp>
        <p:nvSpPr>
          <p:cNvPr id="3" name="Code 1"/>
          <p:cNvSpPr/>
          <p:nvPr/>
        </p:nvSpPr>
        <p:spPr>
          <a:xfrm>
            <a:off x="457200" y="1325880"/>
            <a:ext cx="4297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load_img(path, target_size=(224, 224))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Resize to ResNet50’s input size</a:t>
            </a:r>
            <a:endParaRPr lang="en-US" sz="1400" dirty="0"/>
          </a:p>
        </p:txBody>
      </p:sp>
      <p:sp>
        <p:nvSpPr>
          <p:cNvPr id="6" name="Code 2"/>
          <p:cNvSpPr/>
          <p:nvPr/>
        </p:nvSpPr>
        <p:spPr>
          <a:xfrm>
            <a:off x="457200" y="2121408"/>
            <a:ext cx="4297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1214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img_to_array(image)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1214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Convert the PIL image to a NumPy array (224, 224, 3)</a:t>
            </a:r>
            <a:endParaRPr lang="en-US" sz="1400" dirty="0"/>
          </a:p>
        </p:txBody>
      </p:sp>
      <p:sp>
        <p:nvSpPr>
          <p:cNvPr id="9" name="Code 3"/>
          <p:cNvSpPr/>
          <p:nvPr/>
        </p:nvSpPr>
        <p:spPr>
          <a:xfrm>
            <a:off x="457200" y="2916936"/>
            <a:ext cx="4297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1693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image.reshape((1, H, W, C))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9169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a batch dimension: (1, 224, 224, 3)</a:t>
            </a:r>
            <a:endParaRPr lang="en-US" sz="1400" dirty="0"/>
          </a:p>
        </p:txBody>
      </p:sp>
      <p:sp>
        <p:nvSpPr>
          <p:cNvPr id="12" name="Code 4"/>
          <p:cNvSpPr/>
          <p:nvPr/>
        </p:nvSpPr>
        <p:spPr>
          <a:xfrm>
            <a:off x="457200" y="3712464"/>
            <a:ext cx="4297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124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preprocess_input(image)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71246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ResNet-specific normalisation (RGB→BGR, mean subtraction)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Prediction and Output</a:t>
            </a:r>
            <a:endParaRPr lang="en-US" sz="3400" dirty="0"/>
          </a:p>
        </p:txBody>
      </p:sp>
      <p:sp>
        <p:nvSpPr>
          <p:cNvPr id="3" name="Result card"/>
          <p:cNvSpPr/>
          <p:nvPr/>
        </p:nvSpPr>
        <p:spPr>
          <a:xfrm>
            <a:off x="457200" y="1371600"/>
            <a:ext cx="4023360" cy="265176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EXAMPLE OF OUTPUT FORMAT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golden_retriever (87.42%)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'%s (%.2f%%)' % (label, score × 100)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37160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model.predict() returns 1000 class probabilities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decode_predictions() maps them to readable class names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the top-1 result is used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Label and confidence are rendered back in index.html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Safeguards and Limitations</a:t>
            </a:r>
            <a:endParaRPr lang="en-US" sz="3400" dirty="0"/>
          </a:p>
        </p:txBody>
      </p:sp>
      <p:sp>
        <p:nvSpPr>
          <p:cNvPr id="3" name="Safeguards header"/>
          <p:cNvSpPr txBox="1"/>
          <p:nvPr/>
        </p:nvSpPr>
        <p:spPr>
          <a:xfrm>
            <a:off x="457200" y="1280160"/>
            <a:ext cx="40233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Safeguards</a:t>
            </a:r>
            <a:endParaRPr lang="en-US" sz="1800" dirty="0"/>
          </a:p>
        </p:txBody>
      </p:sp>
      <p:sp>
        <p:nvSpPr>
          <p:cNvPr id="4" name="Safeguards card"/>
          <p:cNvSpPr/>
          <p:nvPr/>
        </p:nvSpPr>
        <p:spPr>
          <a:xfrm>
            <a:off x="457200" y="1874520"/>
            <a:ext cx="4023360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0574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secure_filename() blocks unsafe file names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Missing file and empty selection are handled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try/except returns an error instead of crashing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Debug logging traces each upload</a:t>
            </a:r>
            <a:endParaRPr lang="en-US" sz="1400" dirty="0"/>
          </a:p>
        </p:txBody>
      </p:sp>
      <p:sp>
        <p:nvSpPr>
          <p:cNvPr id="6" name="Limitations header"/>
          <p:cNvSpPr txBox="1"/>
          <p:nvPr/>
        </p:nvSpPr>
        <p:spPr>
          <a:xfrm>
            <a:off x="4663440" y="1280160"/>
            <a:ext cx="40233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7" name="Limitations card"/>
          <p:cNvSpPr/>
          <p:nvPr/>
        </p:nvSpPr>
        <p:spPr>
          <a:xfrm>
            <a:off x="4663440" y="1874520"/>
            <a:ext cx="4023360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20574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file-type or file-size validation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filename overwrites; images pile up in /images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the top-1 prediction is shown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Limited to the 1000 ImageNet classes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 and Future 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Achieved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End-to-end deep learning web app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Transfer learning with pre-trained ResNet50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Prediction and confidence in seconds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78308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Top-5 predictions with probabilities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File checks and unique file names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Fine-tune on a custom dataset and deploy to the cloud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Thank you  |  Maham Aziz  |  SU92-BSCSM-F23-238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epLearningNavy">
  <a:themeElements>
    <a:clrScheme name="DeepLearningNavy">
      <a:dk1>
        <a:srgbClr val="1F2937"/>
      </a:dk1>
      <a:lt1>
        <a:srgbClr val="FFFFFF"/>
      </a:lt1>
      <a:dk2>
        <a:srgbClr val="0B1D3A"/>
      </a:dk2>
      <a:lt2>
        <a:srgbClr val="EAF1F8"/>
      </a:lt2>
      <a:accent1>
        <a:srgbClr val="00897B"/>
      </a:accent1>
      <a:accent2>
        <a:srgbClr val="F5B83D"/>
      </a:accent2>
      <a:accent3>
        <a:srgbClr val="2E5C8A"/>
      </a:accent3>
      <a:accent4>
        <a:srgbClr val="5B7DB1"/>
      </a:accent4>
      <a:accent5>
        <a:srgbClr val="7FC8BF"/>
      </a:accent5>
      <a:accent6>
        <a:srgbClr val="C0392B"/>
      </a:accent6>
      <a:hlink>
        <a:srgbClr val="00897B"/>
      </a:hlink>
      <a:folHlink>
        <a:srgbClr val="2E5C8A"/>
      </a:folHlink>
    </a:clrScheme>
    <a:fontScheme name="DeepLearning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Classification Web App using ResNet50</dc:title>
  <dc:subject>Deep Learning</dc:subject>
  <dc:creator>Maham Aziz</dc:creator>
  <cp:lastModifiedBy>Maham Aziz</cp:lastModifiedBy>
  <cp:revision>1</cp:revision>
  <dcterms:created xsi:type="dcterms:W3CDTF">2026-10-27T14:38:19Z</dcterms:created>
  <dcterms:modified xsi:type="dcterms:W3CDTF">2026-10-27T14:38:19Z</dcterms:modified>
</cp:coreProperties>
</file>